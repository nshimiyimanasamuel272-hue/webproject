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5" autoAdjust="0"/>
    <p:restoredTop sz="94660"/>
  </p:normalViewPr>
  <p:slideViewPr>
    <p:cSldViewPr snapToGrid="0">
      <p:cViewPr varScale="1">
        <p:scale>
          <a:sx n="50" d="100"/>
          <a:sy n="50" d="100"/>
        </p:scale>
        <p:origin x="48" y="50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06BDE-7FAD-B4D3-D403-AF5EB3CB66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A0FA17-BB8E-866B-F24C-7857E6EAF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DF81FC-DCB4-506B-FEE7-B60DDEACCA88}"/>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5" name="Footer Placeholder 4">
            <a:extLst>
              <a:ext uri="{FF2B5EF4-FFF2-40B4-BE49-F238E27FC236}">
                <a16:creationId xmlns:a16="http://schemas.microsoft.com/office/drawing/2014/main" id="{B44FEB90-4D61-63CD-987C-28349080F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B2B550-9458-F4F0-1244-27DCA8F9088A}"/>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4250743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DD5A5-6066-073A-65CA-76E77B7AA8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20C7B-3313-DB18-89CB-AFB113C054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06935-D317-A077-6E15-BC4FB768B1DB}"/>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5" name="Footer Placeholder 4">
            <a:extLst>
              <a:ext uri="{FF2B5EF4-FFF2-40B4-BE49-F238E27FC236}">
                <a16:creationId xmlns:a16="http://schemas.microsoft.com/office/drawing/2014/main" id="{0C8BDD94-E367-49A3-CC43-5017044E7C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0D261-411E-6B92-6F6E-E23BB3B29A30}"/>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94230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C370-58B8-E8E0-2E24-15539D13F6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45A8EF-E2C1-0B1C-64F5-9024956E31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6EE144-5BAE-D5CB-7A76-DA6365D52F63}"/>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5" name="Footer Placeholder 4">
            <a:extLst>
              <a:ext uri="{FF2B5EF4-FFF2-40B4-BE49-F238E27FC236}">
                <a16:creationId xmlns:a16="http://schemas.microsoft.com/office/drawing/2014/main" id="{8D209566-5A57-F8B8-8228-7C0832F501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CDA883-16EF-ADB2-2ECC-6345E8E26532}"/>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54480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2870F-318A-6BFC-9BED-2179F6E93F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98233E-17E7-045D-E37F-F3C7ECD1FB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CDF7E3-7322-97E7-DB56-C6343D9005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AF09ED-5418-6B7E-8023-19DBF2C3A453}"/>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6" name="Footer Placeholder 5">
            <a:extLst>
              <a:ext uri="{FF2B5EF4-FFF2-40B4-BE49-F238E27FC236}">
                <a16:creationId xmlns:a16="http://schemas.microsoft.com/office/drawing/2014/main" id="{16740E0A-1493-EF71-A21D-2F8B8D2313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F8B977-F0E2-43BC-7A61-B8E365C19306}"/>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1154718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8C9DD-173C-2AD6-171B-7BBD7F04D8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4B3F539-657C-5094-C9C6-5FFDFFBD1D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EEBA28-6597-EDF7-D4B2-92C83C3E0A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908EC7-F1FC-7BAA-A52B-78890FA7B7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47133E-F9C3-F2EF-31D9-64875FCF4B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C130EE-2B95-0136-34CE-3DC154177483}"/>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8" name="Footer Placeholder 7">
            <a:extLst>
              <a:ext uri="{FF2B5EF4-FFF2-40B4-BE49-F238E27FC236}">
                <a16:creationId xmlns:a16="http://schemas.microsoft.com/office/drawing/2014/main" id="{C3DDD8B3-CFF4-5D1A-78A8-AF9BC8CDB1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A2F936-A5E4-761E-C0D6-B2E1B0861180}"/>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2392822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A0B37-4E2E-AB52-B70F-40E7F44B23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C72643-B5B5-7904-5AA4-E5717163FD9A}"/>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4" name="Footer Placeholder 3">
            <a:extLst>
              <a:ext uri="{FF2B5EF4-FFF2-40B4-BE49-F238E27FC236}">
                <a16:creationId xmlns:a16="http://schemas.microsoft.com/office/drawing/2014/main" id="{F8BCE72F-1ABB-3BDA-99FB-2795B05C2A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F7ADF6-74D8-5F5C-BB39-C52A678830CB}"/>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2119575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116E5C-0548-019A-9457-EEFFFE2B20AD}"/>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3" name="Footer Placeholder 2">
            <a:extLst>
              <a:ext uri="{FF2B5EF4-FFF2-40B4-BE49-F238E27FC236}">
                <a16:creationId xmlns:a16="http://schemas.microsoft.com/office/drawing/2014/main" id="{F5F30E6B-F3F6-02F2-4138-48D10EC69A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F2E50F-1864-20A9-2B34-FEEC733C2597}"/>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3020739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A68B3-BCEE-9D5C-B1FB-4F79C535CF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E4F52E-FF33-67A6-AF02-DCE626A1E6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1753E8-EA54-5E70-B1C5-60A88400CE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73B45-559C-11CB-2BA4-10E306DF84A3}"/>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6" name="Footer Placeholder 5">
            <a:extLst>
              <a:ext uri="{FF2B5EF4-FFF2-40B4-BE49-F238E27FC236}">
                <a16:creationId xmlns:a16="http://schemas.microsoft.com/office/drawing/2014/main" id="{71A9F9D4-3A26-D1F3-C389-B491CA49E5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F57FF5-1F83-F355-5B4E-9A7DC10909E1}"/>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2284919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2E488-5479-023E-BCD9-72A4BECBB7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CD7A33-58C0-5061-0566-BA499473D8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D61155-C065-A2AE-E4CE-C311C0CDF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50AD4-A94F-FA7B-9BE7-A9D6DFBE69E2}"/>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6" name="Footer Placeholder 5">
            <a:extLst>
              <a:ext uri="{FF2B5EF4-FFF2-40B4-BE49-F238E27FC236}">
                <a16:creationId xmlns:a16="http://schemas.microsoft.com/office/drawing/2014/main" id="{B3E8366B-D450-6BE2-EA47-1211722694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525A7F-D317-0888-93C9-9E8D554779BB}"/>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392415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CF4D0-58AD-0EE7-8F5F-4A7A001E55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2AE1C6-1A5F-19CF-2A54-A3F6D2922C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91A6B8-BF05-0525-D66B-3E71A8113C7A}"/>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5" name="Footer Placeholder 4">
            <a:extLst>
              <a:ext uri="{FF2B5EF4-FFF2-40B4-BE49-F238E27FC236}">
                <a16:creationId xmlns:a16="http://schemas.microsoft.com/office/drawing/2014/main" id="{16D4A633-A41F-8022-C6F0-7E33F5A7B8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540036-966B-0690-AB22-E9EEBA95BE59}"/>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1481974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96998C-93A5-ACC1-677F-2A08422755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9E52AC-A7F9-8E06-2484-1CDC8D20CD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C1856-E565-A524-A7F2-BE7255E1CC4A}"/>
              </a:ext>
            </a:extLst>
          </p:cNvPr>
          <p:cNvSpPr>
            <a:spLocks noGrp="1"/>
          </p:cNvSpPr>
          <p:nvPr>
            <p:ph type="dt" sz="half" idx="10"/>
          </p:nvPr>
        </p:nvSpPr>
        <p:spPr/>
        <p:txBody>
          <a:bodyPr/>
          <a:lstStyle/>
          <a:p>
            <a:fld id="{0C81BE27-C278-4051-961D-96AB423A58A2}" type="datetimeFigureOut">
              <a:rPr lang="en-US" smtClean="0"/>
              <a:t>5/29/2026</a:t>
            </a:fld>
            <a:endParaRPr lang="en-US"/>
          </a:p>
        </p:txBody>
      </p:sp>
      <p:sp>
        <p:nvSpPr>
          <p:cNvPr id="5" name="Footer Placeholder 4">
            <a:extLst>
              <a:ext uri="{FF2B5EF4-FFF2-40B4-BE49-F238E27FC236}">
                <a16:creationId xmlns:a16="http://schemas.microsoft.com/office/drawing/2014/main" id="{AAA32AA1-211A-E09D-5663-71F295E167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0F2D7F-A235-6F20-C3EF-E8E4212FA13A}"/>
              </a:ext>
            </a:extLst>
          </p:cNvPr>
          <p:cNvSpPr>
            <a:spLocks noGrp="1"/>
          </p:cNvSpPr>
          <p:nvPr>
            <p:ph type="sldNum" sz="quarter" idx="12"/>
          </p:nvPr>
        </p:nvSpPr>
        <p:spPr/>
        <p:txBody>
          <a:bodyPr/>
          <a:lstStyle/>
          <a:p>
            <a:fld id="{112AF6AD-0509-447E-A3EF-52780363EFA2}" type="slidenum">
              <a:rPr lang="en-US" smtClean="0"/>
              <a:t>‹#›</a:t>
            </a:fld>
            <a:endParaRPr lang="en-US"/>
          </a:p>
        </p:txBody>
      </p:sp>
    </p:spTree>
    <p:extLst>
      <p:ext uri="{BB962C8B-B14F-4D97-AF65-F5344CB8AC3E}">
        <p14:creationId xmlns:p14="http://schemas.microsoft.com/office/powerpoint/2010/main" val="556103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9D0784-3578-18CF-03F5-450E52CB4C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42784C-3293-4438-8519-AC4BFB5630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82F34D-6043-367F-8C46-3287C88EB4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C81BE27-C278-4051-961D-96AB423A58A2}" type="datetimeFigureOut">
              <a:rPr lang="en-US" smtClean="0"/>
              <a:t>5/29/2026</a:t>
            </a:fld>
            <a:endParaRPr lang="en-US"/>
          </a:p>
        </p:txBody>
      </p:sp>
      <p:sp>
        <p:nvSpPr>
          <p:cNvPr id="5" name="Footer Placeholder 4">
            <a:extLst>
              <a:ext uri="{FF2B5EF4-FFF2-40B4-BE49-F238E27FC236}">
                <a16:creationId xmlns:a16="http://schemas.microsoft.com/office/drawing/2014/main" id="{20979854-4C6F-7EA9-D469-AD0214B939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8A3AB29-6741-36BE-DB82-A6898B7F03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2AF6AD-0509-447E-A3EF-52780363EFA2}" type="slidenum">
              <a:rPr lang="en-US" smtClean="0"/>
              <a:t>‹#›</a:t>
            </a:fld>
            <a:endParaRPr lang="en-US"/>
          </a:p>
        </p:txBody>
      </p:sp>
    </p:spTree>
    <p:extLst>
      <p:ext uri="{BB962C8B-B14F-4D97-AF65-F5344CB8AC3E}">
        <p14:creationId xmlns:p14="http://schemas.microsoft.com/office/powerpoint/2010/main" val="4267656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7E6C8-DE31-0DD4-5E3D-3E932B7824B3}"/>
              </a:ext>
            </a:extLst>
          </p:cNvPr>
          <p:cNvSpPr>
            <a:spLocks noGrp="1"/>
          </p:cNvSpPr>
          <p:nvPr>
            <p:ph type="ctrTitle"/>
          </p:nvPr>
        </p:nvSpPr>
        <p:spPr/>
        <p:txBody>
          <a:bodyPr>
            <a:normAutofit fontScale="90000"/>
          </a:bodyPr>
          <a:lstStyle/>
          <a:p>
            <a:pPr algn="l">
              <a:spcAft>
                <a:spcPts val="525"/>
              </a:spcAft>
            </a:pPr>
            <a:r>
              <a:rPr lang="en-US" b="1" dirty="0">
                <a:solidFill>
                  <a:srgbClr val="0D0D0D"/>
                </a:solidFill>
                <a:latin typeface="Segoe UI Variable Text" pitchFamily="2" charset="0"/>
              </a:rPr>
              <a:t>ADVANCED BIOLOGY TEST FOR SENIOR 6 (S4–S6)</a:t>
            </a:r>
            <a:br>
              <a:rPr lang="en-US" b="1" dirty="0">
                <a:solidFill>
                  <a:srgbClr val="0D0D0D"/>
                </a:solidFill>
                <a:latin typeface="Segoe UI Variable Text" pitchFamily="2" charset="0"/>
              </a:rPr>
            </a:br>
            <a:r>
              <a:rPr lang="en-US" b="1" dirty="0" err="1">
                <a:solidFill>
                  <a:srgbClr val="0D0D0D"/>
                </a:solidFill>
                <a:latin typeface="Segoe UI Variable Text" pitchFamily="2" charset="0"/>
              </a:rPr>
              <a:t>Name:iyaturemye</a:t>
            </a:r>
            <a:r>
              <a:rPr lang="en-US" b="1" dirty="0">
                <a:solidFill>
                  <a:srgbClr val="0D0D0D"/>
                </a:solidFill>
                <a:latin typeface="Segoe UI Variable Text" pitchFamily="2" charset="0"/>
              </a:rPr>
              <a:t> ____</a:t>
            </a:r>
            <a:r>
              <a:rPr lang="en-US" b="1" dirty="0" err="1">
                <a:solidFill>
                  <a:srgbClr val="0D0D0D"/>
                </a:solidFill>
                <a:latin typeface="Segoe UI Variable Text" pitchFamily="2" charset="0"/>
              </a:rPr>
              <a:t>gustave</a:t>
            </a:r>
            <a:r>
              <a:rPr lang="en-US" b="1">
                <a:solidFill>
                  <a:srgbClr val="0D0D0D"/>
                </a:solidFill>
                <a:latin typeface="Segoe UI Variable Text" pitchFamily="2" charset="0"/>
              </a:rPr>
              <a:t>________________________________</a:t>
            </a:r>
            <a:br>
              <a:rPr lang="en-US" dirty="0">
                <a:solidFill>
                  <a:srgbClr val="0D0D0D"/>
                </a:solidFill>
                <a:latin typeface="Segoe UI Variable Text" pitchFamily="2" charset="0"/>
              </a:rPr>
            </a:br>
            <a:r>
              <a:rPr lang="en-US" b="1" dirty="0">
                <a:solidFill>
                  <a:srgbClr val="0D0D0D"/>
                </a:solidFill>
                <a:latin typeface="Segoe UI Variable Text" pitchFamily="2" charset="0"/>
              </a:rPr>
              <a:t>Class</a:t>
            </a:r>
            <a:r>
              <a:rPr lang="en-US" b="1">
                <a:solidFill>
                  <a:srgbClr val="0D0D0D"/>
                </a:solidFill>
                <a:latin typeface="Segoe UI Variable Text" pitchFamily="2" charset="0"/>
              </a:rPr>
              <a:t>: ____s6pcb_________________________________</a:t>
            </a:r>
            <a:br>
              <a:rPr lang="en-US" dirty="0">
                <a:solidFill>
                  <a:srgbClr val="0D0D0D"/>
                </a:solidFill>
                <a:latin typeface="Segoe UI Variable Text" pitchFamily="2" charset="0"/>
              </a:rPr>
            </a:br>
            <a:r>
              <a:rPr lang="en-US" b="1" dirty="0">
                <a:solidFill>
                  <a:srgbClr val="0D0D0D"/>
                </a:solidFill>
                <a:latin typeface="Segoe UI Variable Text" pitchFamily="2" charset="0"/>
              </a:rPr>
              <a:t>Date: ______________________________________</a:t>
            </a:r>
            <a:br>
              <a:rPr lang="en-US" dirty="0">
                <a:solidFill>
                  <a:srgbClr val="0D0D0D"/>
                </a:solidFill>
                <a:latin typeface="Segoe UI Variable Text" pitchFamily="2" charset="0"/>
              </a:rPr>
            </a:br>
            <a:r>
              <a:rPr lang="en-US" b="1" dirty="0">
                <a:solidFill>
                  <a:srgbClr val="0D0D0D"/>
                </a:solidFill>
                <a:latin typeface="Segoe UI Variable Text" pitchFamily="2" charset="0"/>
              </a:rPr>
              <a:t>Time: 3 Hours</a:t>
            </a:r>
            <a:br>
              <a:rPr lang="en-US" dirty="0">
                <a:solidFill>
                  <a:srgbClr val="0D0D0D"/>
                </a:solidFill>
                <a:latin typeface="Segoe UI Variable Text" pitchFamily="2" charset="0"/>
              </a:rPr>
            </a:br>
            <a:r>
              <a:rPr lang="en-US" b="1" dirty="0">
                <a:solidFill>
                  <a:srgbClr val="0D0D0D"/>
                </a:solidFill>
                <a:latin typeface="Segoe UI Variable Text" pitchFamily="2" charset="0"/>
              </a:rPr>
              <a:t>Total Marks: 100</a:t>
            </a:r>
            <a:br>
              <a:rPr lang="en-US" dirty="0">
                <a:solidFill>
                  <a:srgbClr val="0D0D0D"/>
                </a:solidFill>
                <a:latin typeface="Segoe UI Variable Text" pitchFamily="2" charset="0"/>
              </a:rPr>
            </a:br>
            <a:br>
              <a:rPr lang="en-US" dirty="0"/>
            </a:br>
            <a:br>
              <a:rPr lang="en-US" dirty="0"/>
            </a:br>
            <a:r>
              <a:rPr lang="en-US" b="1" dirty="0">
                <a:solidFill>
                  <a:srgbClr val="0D0D0D"/>
                </a:solidFill>
                <a:latin typeface="Segoe UI Variable Text" pitchFamily="2" charset="0"/>
              </a:rPr>
              <a:t>SECTION A: Structured Questions (40 Marks)</a:t>
            </a:r>
            <a:br>
              <a:rPr lang="en-US" b="1" dirty="0">
                <a:solidFill>
                  <a:srgbClr val="0D0D0D"/>
                </a:solidFill>
                <a:latin typeface="Segoe UI Variable Text" pitchFamily="2" charset="0"/>
              </a:rPr>
            </a:br>
            <a:r>
              <a:rPr lang="en-US" b="1" dirty="0">
                <a:solidFill>
                  <a:srgbClr val="0D0D0D"/>
                </a:solidFill>
                <a:latin typeface="Segoe UI Variable Text" pitchFamily="2" charset="0"/>
              </a:rPr>
              <a:t>1. Cell Biology and Transport (10 Marks)</a:t>
            </a:r>
            <a:br>
              <a:rPr lang="en-US" b="1" dirty="0">
                <a:solidFill>
                  <a:srgbClr val="0D0D0D"/>
                </a:solidFill>
                <a:latin typeface="Segoe UI Variable Text" pitchFamily="2" charset="0"/>
              </a:rPr>
            </a:br>
            <a:r>
              <a:rPr lang="en-US" dirty="0">
                <a:solidFill>
                  <a:srgbClr val="0D0D0D"/>
                </a:solidFill>
                <a:latin typeface="Segoe UI Variable Text" pitchFamily="2" charset="0"/>
              </a:rPr>
              <a:t>A student placed red blood cells in three different salt solutions:</a:t>
            </a:r>
            <a:br>
              <a:rPr lang="en-US" dirty="0">
                <a:solidFill>
                  <a:srgbClr val="0D0D0D"/>
                </a:solidFill>
                <a:latin typeface="Segoe UI Variable Text" pitchFamily="2" charset="0"/>
              </a:rPr>
            </a:br>
            <a:r>
              <a:rPr lang="en-US" dirty="0">
                <a:solidFill>
                  <a:srgbClr val="0D0D0D"/>
                </a:solidFill>
                <a:latin typeface="Segoe UI Variable Text" pitchFamily="2" charset="0"/>
              </a:rPr>
              <a:t>Solution A: Distilled water</a:t>
            </a:r>
            <a:br>
              <a:rPr lang="en-US" dirty="0">
                <a:solidFill>
                  <a:srgbClr val="0D0D0D"/>
                </a:solidFill>
                <a:latin typeface="Segoe UI Variable Text" pitchFamily="2" charset="0"/>
              </a:rPr>
            </a:br>
            <a:r>
              <a:rPr lang="en-US" dirty="0">
                <a:solidFill>
                  <a:srgbClr val="0D0D0D"/>
                </a:solidFill>
                <a:latin typeface="Segoe UI Variable Text" pitchFamily="2" charset="0"/>
              </a:rPr>
              <a:t>Solution B: Normal saline solution</a:t>
            </a:r>
            <a:br>
              <a:rPr lang="en-US" dirty="0">
                <a:solidFill>
                  <a:srgbClr val="0D0D0D"/>
                </a:solidFill>
                <a:latin typeface="Segoe UI Variable Text" pitchFamily="2" charset="0"/>
              </a:rPr>
            </a:br>
            <a:r>
              <a:rPr lang="en-US" dirty="0" err="1">
                <a:solidFill>
                  <a:srgbClr val="0D0D0D"/>
                </a:solidFill>
                <a:latin typeface="Segoe UI Variable Text" pitchFamily="2" charset="0"/>
              </a:rPr>
              <a:t>Solution</a:t>
            </a:r>
            <a:r>
              <a:rPr lang="en-US" dirty="0">
                <a:solidFill>
                  <a:srgbClr val="0D0D0D"/>
                </a:solidFill>
                <a:latin typeface="Segoe UI Variable Text" pitchFamily="2" charset="0"/>
              </a:rPr>
              <a:t> C: Concentrated salt solution</a:t>
            </a:r>
            <a:br>
              <a:rPr lang="en-US" dirty="0">
                <a:solidFill>
                  <a:srgbClr val="0D0D0D"/>
                </a:solidFill>
                <a:latin typeface="Segoe UI Variable Text" pitchFamily="2" charset="0"/>
              </a:rPr>
            </a:br>
            <a:r>
              <a:rPr lang="en-US" b="1" dirty="0">
                <a:solidFill>
                  <a:srgbClr val="0D0D0D"/>
                </a:solidFill>
                <a:latin typeface="Segoe UI Variable Text" pitchFamily="2" charset="0"/>
              </a:rPr>
              <a:t>a) Explain what happened to the red blood cells in each solution. (6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b) Name the biological processes responsible for the changes observed. (2 marks)</a:t>
            </a:r>
            <a:br>
              <a:rPr lang="en-US" b="1" dirty="0">
                <a:solidFill>
                  <a:srgbClr val="0D0D0D"/>
                </a:solidFill>
                <a:latin typeface="Segoe UI Variable Text" pitchFamily="2" charset="0"/>
              </a:rPr>
            </a:br>
            <a:br>
              <a:rPr lang="en-US" dirty="0"/>
            </a:br>
            <a:br>
              <a:rPr lang="en-US" dirty="0"/>
            </a:br>
            <a:br>
              <a:rPr lang="en-US" dirty="0"/>
            </a:br>
            <a:br>
              <a:rPr lang="en-US" dirty="0"/>
            </a:br>
            <a:r>
              <a:rPr lang="en-US" b="1" dirty="0">
                <a:solidFill>
                  <a:srgbClr val="0D0D0D"/>
                </a:solidFill>
                <a:latin typeface="Segoe UI Variable Text" pitchFamily="2" charset="0"/>
              </a:rPr>
              <a:t>c) Explain why plant cells do not burst easily in distilled water. (2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2. Genetics (10 Marks)</a:t>
            </a:r>
            <a:br>
              <a:rPr lang="en-US" b="1" dirty="0">
                <a:solidFill>
                  <a:srgbClr val="0D0D0D"/>
                </a:solidFill>
                <a:latin typeface="Segoe UI Variable Text" pitchFamily="2" charset="0"/>
              </a:rPr>
            </a:br>
            <a:r>
              <a:rPr lang="en-US" dirty="0">
                <a:solidFill>
                  <a:srgbClr val="0D0D0D"/>
                </a:solidFill>
                <a:latin typeface="Segoe UI Variable Text" pitchFamily="2" charset="0"/>
              </a:rPr>
              <a:t>In peas, tallness (T) is dominant over dwarfness (t).</a:t>
            </a:r>
            <a:br>
              <a:rPr lang="en-US" dirty="0">
                <a:solidFill>
                  <a:srgbClr val="0D0D0D"/>
                </a:solidFill>
                <a:latin typeface="Segoe UI Variable Text" pitchFamily="2" charset="0"/>
              </a:rPr>
            </a:br>
            <a:r>
              <a:rPr lang="en-US" dirty="0">
                <a:solidFill>
                  <a:srgbClr val="0D0D0D"/>
                </a:solidFill>
                <a:latin typeface="Segoe UI Variable Text" pitchFamily="2" charset="0"/>
              </a:rPr>
              <a:t>A heterozygous tall plant was crossed with a dwarf plant.</a:t>
            </a:r>
            <a:br>
              <a:rPr lang="en-US" dirty="0">
                <a:solidFill>
                  <a:srgbClr val="0D0D0D"/>
                </a:solidFill>
                <a:latin typeface="Segoe UI Variable Text" pitchFamily="2" charset="0"/>
              </a:rPr>
            </a:br>
            <a:r>
              <a:rPr lang="en-US" b="1" dirty="0">
                <a:solidFill>
                  <a:srgbClr val="0D0D0D"/>
                </a:solidFill>
                <a:latin typeface="Segoe UI Variable Text" pitchFamily="2" charset="0"/>
              </a:rPr>
              <a:t>a) State the genotype of each parent. (2 marks)</a:t>
            </a:r>
            <a:br>
              <a:rPr lang="en-US" b="1" dirty="0">
                <a:solidFill>
                  <a:srgbClr val="0D0D0D"/>
                </a:solidFill>
                <a:latin typeface="Segoe UI Variable Text" pitchFamily="2" charset="0"/>
              </a:rPr>
            </a:br>
            <a:br>
              <a:rPr lang="en-US" dirty="0"/>
            </a:br>
            <a:br>
              <a:rPr lang="en-US" dirty="0"/>
            </a:br>
            <a:br>
              <a:rPr lang="en-US" dirty="0"/>
            </a:br>
            <a:br>
              <a:rPr lang="en-US" dirty="0"/>
            </a:br>
            <a:r>
              <a:rPr lang="en-US" b="1" dirty="0">
                <a:solidFill>
                  <a:srgbClr val="0D0D0D"/>
                </a:solidFill>
                <a:latin typeface="Segoe UI Variable Text" pitchFamily="2" charset="0"/>
              </a:rPr>
              <a:t>b) Draw a genetic cross diagram to show the offspring produced. (4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c) State the phenotypic ratio obtained. (2 marks)</a:t>
            </a:r>
            <a:br>
              <a:rPr lang="en-US" b="1" dirty="0">
                <a:solidFill>
                  <a:srgbClr val="0D0D0D"/>
                </a:solidFill>
                <a:latin typeface="Segoe UI Variable Text" pitchFamily="2" charset="0"/>
              </a:rPr>
            </a:br>
            <a:br>
              <a:rPr lang="en-US" dirty="0"/>
            </a:br>
            <a:br>
              <a:rPr lang="en-US" dirty="0"/>
            </a:br>
            <a:br>
              <a:rPr lang="en-US" dirty="0"/>
            </a:br>
            <a:br>
              <a:rPr lang="en-US" dirty="0"/>
            </a:br>
            <a:r>
              <a:rPr lang="en-US" b="1" dirty="0">
                <a:solidFill>
                  <a:srgbClr val="0D0D0D"/>
                </a:solidFill>
                <a:latin typeface="Segoe UI Variable Text" pitchFamily="2" charset="0"/>
              </a:rPr>
              <a:t>d) Explain the importance of genetic variation in organisms. (2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3. Human Physiology (10 Marks)</a:t>
            </a:r>
            <a:br>
              <a:rPr lang="en-US" b="1" dirty="0">
                <a:solidFill>
                  <a:srgbClr val="0D0D0D"/>
                </a:solidFill>
                <a:latin typeface="Segoe UI Variable Text" pitchFamily="2" charset="0"/>
              </a:rPr>
            </a:br>
            <a:r>
              <a:rPr lang="en-US" b="1" dirty="0">
                <a:solidFill>
                  <a:srgbClr val="0D0D0D"/>
                </a:solidFill>
                <a:latin typeface="Segoe UI Variable Text" pitchFamily="2" charset="0"/>
              </a:rPr>
              <a:t>a) Describe how inhalation occurs in humans. (5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b) Explain why smokers are more likely to suffer from respiratory diseases. (5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4. Ecology (10 Marks)</a:t>
            </a:r>
            <a:br>
              <a:rPr lang="en-US" b="1" dirty="0">
                <a:solidFill>
                  <a:srgbClr val="0D0D0D"/>
                </a:solidFill>
                <a:latin typeface="Segoe UI Variable Text" pitchFamily="2" charset="0"/>
              </a:rPr>
            </a:br>
            <a:r>
              <a:rPr lang="en-US" dirty="0">
                <a:solidFill>
                  <a:srgbClr val="0D0D0D"/>
                </a:solidFill>
                <a:latin typeface="Segoe UI Variable Text" pitchFamily="2" charset="0"/>
              </a:rPr>
              <a:t>The diagram below represents a food chain:</a:t>
            </a:r>
            <a:br>
              <a:rPr lang="en-US" dirty="0">
                <a:solidFill>
                  <a:srgbClr val="0D0D0D"/>
                </a:solidFill>
                <a:latin typeface="Segoe UI Variable Text" pitchFamily="2" charset="0"/>
              </a:rPr>
            </a:br>
            <a:r>
              <a:rPr lang="en-US" b="1" dirty="0">
                <a:solidFill>
                  <a:srgbClr val="0D0D0D"/>
                </a:solidFill>
                <a:latin typeface="Segoe UI Variable Text" pitchFamily="2" charset="0"/>
              </a:rPr>
              <a:t>Grass → Grasshopper → Frog → Snake → Hawk</a:t>
            </a:r>
            <a:br>
              <a:rPr lang="en-US" dirty="0">
                <a:solidFill>
                  <a:srgbClr val="0D0D0D"/>
                </a:solidFill>
                <a:latin typeface="Segoe UI Variable Text" pitchFamily="2" charset="0"/>
              </a:rPr>
            </a:br>
            <a:r>
              <a:rPr lang="en-US" b="1" dirty="0">
                <a:solidFill>
                  <a:srgbClr val="0D0D0D"/>
                </a:solidFill>
                <a:latin typeface="Segoe UI Variable Text" pitchFamily="2" charset="0"/>
              </a:rPr>
              <a:t>a) Identify:</a:t>
            </a:r>
            <a:br>
              <a:rPr lang="en-US" b="1" dirty="0">
                <a:solidFill>
                  <a:srgbClr val="0D0D0D"/>
                </a:solidFill>
                <a:latin typeface="Segoe UI Variable Text" pitchFamily="2" charset="0"/>
              </a:rPr>
            </a:br>
            <a:r>
              <a:rPr lang="en-US" dirty="0" err="1">
                <a:solidFill>
                  <a:srgbClr val="0D0D0D"/>
                </a:solidFill>
                <a:latin typeface="Segoe UI Variable Text" pitchFamily="2" charset="0"/>
              </a:rPr>
              <a:t>i</a:t>
            </a:r>
            <a:r>
              <a:rPr lang="en-US" dirty="0">
                <a:solidFill>
                  <a:srgbClr val="0D0D0D"/>
                </a:solidFill>
                <a:latin typeface="Segoe UI Variable Text" pitchFamily="2" charset="0"/>
              </a:rPr>
              <a:t>. The producer: _____________________________</a:t>
            </a:r>
            <a:br>
              <a:rPr lang="en-US" dirty="0">
                <a:solidFill>
                  <a:srgbClr val="0D0D0D"/>
                </a:solidFill>
                <a:latin typeface="Segoe UI Variable Text" pitchFamily="2" charset="0"/>
              </a:rPr>
            </a:br>
            <a:r>
              <a:rPr lang="en-US" dirty="0">
                <a:solidFill>
                  <a:srgbClr val="0D0D0D"/>
                </a:solidFill>
                <a:latin typeface="Segoe UI Variable Text" pitchFamily="2" charset="0"/>
              </a:rPr>
              <a:t>ii. The secondary consumer: ___________________</a:t>
            </a:r>
            <a:br>
              <a:rPr lang="en-US" dirty="0">
                <a:solidFill>
                  <a:srgbClr val="0D0D0D"/>
                </a:solidFill>
                <a:latin typeface="Segoe UI Variable Text" pitchFamily="2" charset="0"/>
              </a:rPr>
            </a:br>
            <a:r>
              <a:rPr lang="en-US" dirty="0">
                <a:solidFill>
                  <a:srgbClr val="0D0D0D"/>
                </a:solidFill>
                <a:latin typeface="Segoe UI Variable Text" pitchFamily="2" charset="0"/>
              </a:rPr>
              <a:t>iii. The top consumer: _________________________</a:t>
            </a:r>
            <a:br>
              <a:rPr lang="en-US" dirty="0">
                <a:solidFill>
                  <a:srgbClr val="0D0D0D"/>
                </a:solidFill>
                <a:latin typeface="Segoe UI Variable Text" pitchFamily="2" charset="0"/>
              </a:rPr>
            </a:br>
            <a:br>
              <a:rPr lang="en-US" dirty="0"/>
            </a:br>
            <a:br>
              <a:rPr lang="en-US" dirty="0"/>
            </a:br>
            <a:r>
              <a:rPr lang="en-US" b="1" dirty="0">
                <a:solidFill>
                  <a:srgbClr val="0D0D0D"/>
                </a:solidFill>
                <a:latin typeface="Segoe UI Variable Text" pitchFamily="2" charset="0"/>
              </a:rPr>
              <a:t>b) Explain how energy is lost between trophic levels. (4 marks)</a:t>
            </a:r>
            <a:br>
              <a:rPr lang="en-US" b="1"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c) State two effects of removing snakes from this ecosystem. (4 marks)</a:t>
            </a:r>
            <a:br>
              <a:rPr lang="en-US" b="1" dirty="0">
                <a:solidFill>
                  <a:srgbClr val="0D0D0D"/>
                </a:solidFill>
                <a:latin typeface="Segoe UI Variable Text" pitchFamily="2" charset="0"/>
              </a:rPr>
            </a:br>
            <a:br>
              <a:rPr lang="en-US" dirty="0">
                <a:solidFill>
                  <a:srgbClr val="0D0D0D"/>
                </a:solidFill>
                <a:latin typeface="Segoe UI Variable Text" pitchFamily="2" charset="0"/>
              </a:rPr>
            </a:br>
            <a:br>
              <a:rPr lang="en-US" dirty="0">
                <a:solidFill>
                  <a:srgbClr val="0D0D0D"/>
                </a:solidFill>
                <a:latin typeface="Segoe UI Variable Text" pitchFamily="2" charset="0"/>
              </a:rPr>
            </a:br>
            <a:br>
              <a:rPr lang="en-US" dirty="0">
                <a:solidFill>
                  <a:srgbClr val="0D0D0D"/>
                </a:solidFill>
                <a:latin typeface="Segoe UI Variable Text" pitchFamily="2" charset="0"/>
              </a:rPr>
            </a:br>
            <a:br>
              <a:rPr lang="en-US" dirty="0">
                <a:solidFill>
                  <a:srgbClr val="0D0D0D"/>
                </a:solidFill>
                <a:latin typeface="Segoe UI Variable Text" pitchFamily="2" charset="0"/>
              </a:rPr>
            </a:br>
            <a:br>
              <a:rPr lang="en-US" dirty="0"/>
            </a:br>
            <a:br>
              <a:rPr lang="en-US" dirty="0"/>
            </a:br>
            <a:br>
              <a:rPr lang="en-US" dirty="0"/>
            </a:br>
            <a:r>
              <a:rPr lang="en-US" b="1" dirty="0">
                <a:solidFill>
                  <a:srgbClr val="0D0D0D"/>
                </a:solidFill>
                <a:latin typeface="Segoe UI Variable Text" pitchFamily="2" charset="0"/>
              </a:rPr>
              <a:t>SECTION B: Essay Questions (60 Marks)</a:t>
            </a:r>
            <a:br>
              <a:rPr lang="en-US" b="1" dirty="0">
                <a:solidFill>
                  <a:srgbClr val="0D0D0D"/>
                </a:solidFill>
                <a:latin typeface="Segoe UI Variable Text" pitchFamily="2" charset="0"/>
              </a:rPr>
            </a:br>
            <a:r>
              <a:rPr lang="en-US" b="1" dirty="0">
                <a:solidFill>
                  <a:srgbClr val="0D0D0D"/>
                </a:solidFill>
                <a:latin typeface="Segoe UI Variable Text" pitchFamily="2" charset="0"/>
              </a:rPr>
              <a:t>Answer any TWO questions.</a:t>
            </a:r>
            <a:br>
              <a:rPr lang="en-US" b="1" dirty="0">
                <a:solidFill>
                  <a:srgbClr val="0D0D0D"/>
                </a:solidFill>
                <a:latin typeface="Segoe UI Variable Text" pitchFamily="2" charset="0"/>
              </a:rPr>
            </a:br>
            <a:br>
              <a:rPr lang="en-US" dirty="0"/>
            </a:br>
            <a:br>
              <a:rPr lang="en-US" dirty="0"/>
            </a:br>
            <a:r>
              <a:rPr lang="en-US" b="1" dirty="0">
                <a:solidFill>
                  <a:srgbClr val="0D0D0D"/>
                </a:solidFill>
                <a:latin typeface="Segoe UI Variable Text" pitchFamily="2" charset="0"/>
              </a:rPr>
              <a:t>5. Photosynthesis and Respiration (30 Marks)</a:t>
            </a:r>
            <a:br>
              <a:rPr lang="en-US" b="1" dirty="0">
                <a:solidFill>
                  <a:srgbClr val="0D0D0D"/>
                </a:solidFill>
                <a:latin typeface="Segoe UI Variable Text" pitchFamily="2" charset="0"/>
              </a:rPr>
            </a:br>
            <a:r>
              <a:rPr lang="en-US" dirty="0">
                <a:solidFill>
                  <a:srgbClr val="0D0D0D"/>
                </a:solidFill>
                <a:latin typeface="Segoe UI Variable Text" pitchFamily="2" charset="0"/>
              </a:rPr>
              <a:t>Compare and contrast photosynthesis and respiration under the following headings:</a:t>
            </a:r>
            <a:br>
              <a:rPr lang="en-US" dirty="0">
                <a:solidFill>
                  <a:srgbClr val="0D0D0D"/>
                </a:solidFill>
                <a:latin typeface="Segoe UI Variable Text" pitchFamily="2" charset="0"/>
              </a:rPr>
            </a:br>
            <a:r>
              <a:rPr lang="en-US" dirty="0">
                <a:solidFill>
                  <a:srgbClr val="0D0D0D"/>
                </a:solidFill>
                <a:latin typeface="Segoe UI Variable Text" pitchFamily="2" charset="0"/>
              </a:rPr>
              <a:t>Site of occurrence</a:t>
            </a:r>
            <a:br>
              <a:rPr lang="en-US" dirty="0">
                <a:solidFill>
                  <a:srgbClr val="0D0D0D"/>
                </a:solidFill>
                <a:latin typeface="Segoe UI Variable Text" pitchFamily="2" charset="0"/>
              </a:rPr>
            </a:br>
            <a:r>
              <a:rPr lang="en-US" dirty="0">
                <a:solidFill>
                  <a:srgbClr val="0D0D0D"/>
                </a:solidFill>
                <a:latin typeface="Segoe UI Variable Text" pitchFamily="2" charset="0"/>
              </a:rPr>
              <a:t>Raw materials</a:t>
            </a:r>
            <a:br>
              <a:rPr lang="en-US" dirty="0">
                <a:solidFill>
                  <a:srgbClr val="0D0D0D"/>
                </a:solidFill>
                <a:latin typeface="Segoe UI Variable Text" pitchFamily="2" charset="0"/>
              </a:rPr>
            </a:br>
            <a:r>
              <a:rPr lang="en-US" dirty="0">
                <a:solidFill>
                  <a:srgbClr val="0D0D0D"/>
                </a:solidFill>
                <a:latin typeface="Segoe UI Variable Text" pitchFamily="2" charset="0"/>
              </a:rPr>
              <a:t>Products</a:t>
            </a:r>
            <a:br>
              <a:rPr lang="en-US" dirty="0">
                <a:solidFill>
                  <a:srgbClr val="0D0D0D"/>
                </a:solidFill>
                <a:latin typeface="Segoe UI Variable Text" pitchFamily="2" charset="0"/>
              </a:rPr>
            </a:br>
            <a:r>
              <a:rPr lang="en-US" dirty="0">
                <a:solidFill>
                  <a:srgbClr val="0D0D0D"/>
                </a:solidFill>
                <a:latin typeface="Segoe UI Variable Text" pitchFamily="2" charset="0"/>
              </a:rPr>
              <a:t>Energy changes</a:t>
            </a:r>
            <a:br>
              <a:rPr lang="en-US" dirty="0">
                <a:solidFill>
                  <a:srgbClr val="0D0D0D"/>
                </a:solidFill>
                <a:latin typeface="Segoe UI Variable Text" pitchFamily="2" charset="0"/>
              </a:rPr>
            </a:br>
            <a:r>
              <a:rPr lang="en-US" dirty="0">
                <a:solidFill>
                  <a:srgbClr val="0D0D0D"/>
                </a:solidFill>
                <a:latin typeface="Segoe UI Variable Text" pitchFamily="2" charset="0"/>
              </a:rPr>
              <a:t>Importance to living organisms</a:t>
            </a:r>
            <a:br>
              <a:rPr lang="en-US"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6. Reproduction and Population Growth (30 Marks)</a:t>
            </a:r>
            <a:br>
              <a:rPr lang="en-US" b="1" dirty="0">
                <a:solidFill>
                  <a:srgbClr val="0D0D0D"/>
                </a:solidFill>
                <a:latin typeface="Segoe UI Variable Text" pitchFamily="2" charset="0"/>
              </a:rPr>
            </a:br>
            <a:r>
              <a:rPr lang="en-US" dirty="0">
                <a:solidFill>
                  <a:srgbClr val="0D0D0D"/>
                </a:solidFill>
                <a:latin typeface="Segoe UI Variable Text" pitchFamily="2" charset="0"/>
              </a:rPr>
              <a:t>Discuss the advantages and disadvantages of sexual reproduction in organisms.</a:t>
            </a:r>
            <a:br>
              <a:rPr lang="en-US"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r>
              <a:rPr lang="en-US" b="1" dirty="0">
                <a:solidFill>
                  <a:srgbClr val="0D0D0D"/>
                </a:solidFill>
                <a:latin typeface="Segoe UI Variable Text" pitchFamily="2" charset="0"/>
              </a:rPr>
              <a:t>7. Environmental Biology (30 Marks)</a:t>
            </a:r>
            <a:br>
              <a:rPr lang="en-US" b="1" dirty="0">
                <a:solidFill>
                  <a:srgbClr val="0D0D0D"/>
                </a:solidFill>
                <a:latin typeface="Segoe UI Variable Text" pitchFamily="2" charset="0"/>
              </a:rPr>
            </a:br>
            <a:r>
              <a:rPr lang="en-US" dirty="0">
                <a:solidFill>
                  <a:srgbClr val="0D0D0D"/>
                </a:solidFill>
                <a:latin typeface="Segoe UI Variable Text" pitchFamily="2" charset="0"/>
              </a:rPr>
              <a:t>Explain the causes, effects, and possible solutions to global warming.</a:t>
            </a:r>
            <a:br>
              <a:rPr lang="en-US" dirty="0">
                <a:solidFill>
                  <a:srgbClr val="0D0D0D"/>
                </a:solidFill>
                <a:latin typeface="Segoe UI Variable Text" pitchFamily="2" charset="0"/>
              </a:rPr>
            </a:br>
            <a:br>
              <a:rPr lang="en-US" dirty="0"/>
            </a:br>
            <a:br>
              <a:rPr lang="en-US" dirty="0"/>
            </a:br>
            <a:br>
              <a:rPr lang="en-US" dirty="0"/>
            </a:br>
            <a:br>
              <a:rPr lang="en-US" dirty="0"/>
            </a:br>
            <a:br>
              <a:rPr lang="en-US" dirty="0"/>
            </a:br>
            <a:br>
              <a:rPr lang="en-US" dirty="0"/>
            </a:br>
            <a:br>
              <a:rPr lang="en-US" dirty="0"/>
            </a:br>
            <a:br>
              <a:rPr lang="en-US" dirty="0"/>
            </a:br>
            <a:br>
              <a:rPr lang="en-US" dirty="0"/>
            </a:br>
            <a:br>
              <a:rPr lang="en-US" dirty="0"/>
            </a:br>
            <a:endParaRPr lang="en-US" dirty="0"/>
          </a:p>
        </p:txBody>
      </p:sp>
      <p:sp>
        <p:nvSpPr>
          <p:cNvPr id="3" name="Subtitle 2">
            <a:extLst>
              <a:ext uri="{FF2B5EF4-FFF2-40B4-BE49-F238E27FC236}">
                <a16:creationId xmlns:a16="http://schemas.microsoft.com/office/drawing/2014/main" id="{40C80104-F7AC-5AC2-2B0A-2758DCA88A1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69625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590</Words>
  <Application>Microsoft Office PowerPoint</Application>
  <PresentationFormat>Widescreen</PresentationFormat>
  <Paragraphs>1</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Segoe UI Variable Text</vt:lpstr>
      <vt:lpstr>Office Theme</vt:lpstr>
      <vt:lpstr>ADVANCED BIOLOGY TEST FOR SENIOR 6 (S4–S6) Name:iyaturemye ____gustave________________________________ Class: ____s6pcb_________________________________ Date: ______________________________________ Time: 3 Hours Total Marks: 100   SECTION A: Structured Questions (40 Marks) 1. Cell Biology and Transport (10 Marks) A student placed red blood cells in three different salt solutions: Solution A: Distilled water Solution B: Normal saline solution Solution C: Concentrated salt solution a) Explain what happened to the red blood cells in each solution. (6 marks)         b) Name the biological processes responsible for the changes observed. (2 marks)     c) Explain why plant cells do not burst easily in distilled water. (2 marks)      2. Genetics (10 Marks) In peas, tallness (T) is dominant over dwarfness (t). A heterozygous tall plant was crossed with a dwarf plant. a) State the genotype of each parent. (2 marks)     b) Draw a genetic cross diagram to show the offspring produced. (4 marks)        c) State the phenotypic ratio obtained. (2 marks)     d) Explain the importance of genetic variation in organisms. (2 marks)      3. Human Physiology (10 Marks) a) Describe how inhalation occurs in humans. (5 marks)         b) Explain why smokers are more likely to suffer from respiratory diseases. (5 marks)         4. Ecology (10 Marks) The diagram below represents a food chain: Grass → Grasshopper → Frog → Snake → Hawk a) Identify: i. The producer: _____________________________ ii. The secondary consumer: ___________________ iii. The top consumer: _________________________   b) Explain how energy is lost between trophic levels. (4 marks)       c) State two effects of removing snakes from this ecosystem. (4 marks)        SECTION B: Essay Questions (60 Marks) Answer any TWO questions.   5. Photosynthesis and Respiration (30 Marks) Compare and contrast photosynthesis and respiration under the following headings: Site of occurrence Raw materials Products Energy changes Importance to living organisms                  6. Reproduction and Population Growth (30 Marks) Discuss the advantages and disadvantages of sexual reproduction in organisms.                 7. Environmental Biology (30 Marks) Explain the causes, effects, and possible solutions to global warming.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Theodette NIYONKURU</dc:creator>
  <cp:lastModifiedBy>Theodette NIYONKURU</cp:lastModifiedBy>
  <cp:revision>2</cp:revision>
  <dcterms:created xsi:type="dcterms:W3CDTF">2026-03-25T14:22:55Z</dcterms:created>
  <dcterms:modified xsi:type="dcterms:W3CDTF">2026-05-29T14:26:02Z</dcterms:modified>
</cp:coreProperties>
</file>